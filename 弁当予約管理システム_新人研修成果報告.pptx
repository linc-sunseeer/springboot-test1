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601200" cy="5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32000" cy="5400000"/>
          </a:xfrm>
          <a:prstGeom prst="rect">
            <a:avLst/>
          </a:prstGeom>
          <a:solidFill>
            <a:srgbClr val="18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360000"/>
            <a:ext cx="1728000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株式会社サンシーア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728000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</a:rPr>
              <a:t>新人研修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2000" y="1440000"/>
            <a:ext cx="6408000" cy="360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3400" b="1">
                <a:solidFill>
                  <a:srgbClr val="182F48"/>
                </a:solidFill>
                <a:latin typeface="Yu Gothic"/>
              </a:rPr>
              <a:t>弁当予約管理システム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0000" y="1890000"/>
            <a:ext cx="4320000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200" b="1">
                <a:solidFill>
                  <a:srgbClr val="3773B9"/>
                </a:solidFill>
                <a:latin typeface="Yu Gothic"/>
              </a:rPr>
              <a:t>2026年度新人研修 成果報告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8000" y="2358000"/>
            <a:ext cx="6048000" cy="432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700" b="0">
                <a:solidFill>
                  <a:srgbClr val="2D343C"/>
                </a:solidFill>
                <a:latin typeface="Yu Gothic"/>
              </a:rPr>
              <a:t>Vue 3 と Spring Boot による、社内向け弁当予約・集計管理システム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28000" y="3060000"/>
            <a:ext cx="1224000" cy="2340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Vue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03999" y="3060000"/>
            <a:ext cx="1224000" cy="234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Spring Boot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0000" y="3060000"/>
            <a:ext cx="1224000" cy="234000"/>
          </a:xfrm>
          <a:prstGeom prst="roundRect">
            <a:avLst>
              <a:gd name="adj" fmla="val 25000"/>
            </a:avLst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MyBatis-Plus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5999" y="3060000"/>
            <a:ext cx="1224000" cy="234000"/>
          </a:xfrm>
          <a:prstGeom prst="roundRect">
            <a:avLst>
              <a:gd name="adj" fmla="val 25000"/>
            </a:avLst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MySQL 8.0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システム概要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実装済みコードに基づく概要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8000" y="990000"/>
            <a:ext cx="4140000" cy="2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目的</a:t>
            </a:r>
          </a:p>
          <a:p>
            <a:pPr>
              <a:spcAft>
                <a:spcPts val="300"/>
              </a:spcAft>
              <a:defRPr sz="1400">
                <a:solidFill>
                  <a:srgbClr val="2D343C"/>
                </a:solidFill>
                <a:latin typeface="Yu Gothic"/>
              </a:defRPr>
            </a:pPr>
            <a:r>
              <a:t>社内の弁当予約をWeb化</a:t>
            </a:r>
          </a:p>
          <a:p>
            <a:pPr>
              <a:spcAft>
                <a:spcPts val="300"/>
              </a:spcAft>
              <a:defRPr sz="1400">
                <a:solidFill>
                  <a:srgbClr val="2D343C"/>
                </a:solidFill>
                <a:latin typeface="Yu Gothic"/>
              </a:defRPr>
            </a:pPr>
            <a:r>
              <a:t>予約締切・成団条件をシステムで管理</a:t>
            </a:r>
          </a:p>
          <a:p>
            <a:pPr>
              <a:spcAft>
                <a:spcPts val="300"/>
              </a:spcAft>
              <a:defRPr sz="1400">
                <a:solidFill>
                  <a:srgbClr val="2D343C"/>
                </a:solidFill>
                <a:latin typeface="Yu Gothic"/>
              </a:defRPr>
            </a:pPr>
            <a:r>
              <a:t>日次・月次集計を管理者画面で確認</a:t>
            </a:r>
          </a:p>
          <a:p>
            <a:pPr>
              <a:spcAft>
                <a:spcPts val="300"/>
              </a:spcAft>
              <a:defRPr sz="1400">
                <a:solidFill>
                  <a:srgbClr val="2D343C"/>
                </a:solidFill>
                <a:latin typeface="Yu Gothic"/>
              </a:defRPr>
            </a:pPr>
            <a:r>
              <a:t>CSV出力により集計作業を効率化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000" y="990000"/>
            <a:ext cx="46800" cy="2700000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990000"/>
            <a:ext cx="4140000" cy="2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対象ユーザー</a:t>
            </a:r>
          </a:p>
          <a:p>
            <a:pPr>
              <a:spcAft>
                <a:spcPts val="300"/>
              </a:spcAft>
              <a:defRPr sz="1400">
                <a:solidFill>
                  <a:srgbClr val="2D343C"/>
                </a:solidFill>
                <a:latin typeface="Yu Gothic"/>
              </a:defRPr>
            </a:pPr>
            <a:r>
              <a:t>一般ユーザー：登録、メール認証、ログイン</a:t>
            </a:r>
          </a:p>
          <a:p>
            <a:pPr>
              <a:spcAft>
                <a:spcPts val="300"/>
              </a:spcAft>
              <a:defRPr sz="1400">
                <a:solidFill>
                  <a:srgbClr val="2D343C"/>
                </a:solidFill>
                <a:latin typeface="Yu Gothic"/>
              </a:defRPr>
            </a:pPr>
            <a:r>
              <a:t>一般ユーザー：メニュー閲覧、カート予約、支払申請</a:t>
            </a:r>
          </a:p>
          <a:p>
            <a:pPr>
              <a:spcAft>
                <a:spcPts val="300"/>
              </a:spcAft>
              <a:defRPr sz="1400">
                <a:solidFill>
                  <a:srgbClr val="2D343C"/>
                </a:solidFill>
                <a:latin typeface="Yu Gothic"/>
              </a:defRPr>
            </a:pPr>
            <a:r>
              <a:t>管理者：メニュー管理、予約集計、ユーザー管理</a:t>
            </a:r>
          </a:p>
          <a:p>
            <a:pPr>
              <a:spcAft>
                <a:spcPts val="300"/>
              </a:spcAft>
              <a:defRPr sz="1400">
                <a:solidFill>
                  <a:srgbClr val="2D343C"/>
                </a:solidFill>
                <a:latin typeface="Yu Gothic"/>
              </a:defRPr>
            </a:pPr>
            <a:r>
              <a:t>管理者：締切時間・成団人数の設定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990000"/>
            <a:ext cx="46800" cy="2700000"/>
          </a:xfrm>
          <a:prstGeom prst="rect">
            <a:avLst/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4068000"/>
            <a:ext cx="8208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700" b="1">
                <a:solidFill>
                  <a:srgbClr val="182F48"/>
                </a:solidFill>
                <a:latin typeface="Yu Gothic"/>
              </a:rPr>
              <a:t>紙運用ではなく、予約・支払・集計・通知をAPI中心に扱う構成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機能一覧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Controller / Router から確認できる実装範囲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6000" y="936000"/>
            <a:ext cx="2772000" cy="313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認証・ユーザー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ユーザー登録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メール認証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JWTログイン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パスワード再設定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プロフィール変更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目標カロリー・アレルゲン設定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936000"/>
            <a:ext cx="46800" cy="3131999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01999" y="936000"/>
            <a:ext cx="2772000" cy="313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予約機能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本日のメニュー取得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週間メニュー表示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メニュー詳細表示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カート一括予約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予約履歴確認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支払申請・注文状態更新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1999" y="936000"/>
            <a:ext cx="46800" cy="3131999"/>
          </a:xfrm>
          <a:prstGeom prst="rect">
            <a:avLst/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8000" y="936000"/>
            <a:ext cx="2772000" cy="313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管理者機能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ダッシュボード統計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メニューCRUD・画像アップロード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日次・月次集計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CSVエクスポート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予約確定・全件キャンセル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返金・ユーザー管理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8000" y="936000"/>
            <a:ext cx="46800" cy="3131999"/>
          </a:xfrm>
          <a:prstGeom prst="rect">
            <a:avLst/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開発環境＆開発言語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pom.xml / package.json / compose.yaml に基づく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917999"/>
            <a:ext cx="4176000" cy="15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バックエンド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Java 17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Spring Boot 3.2.6 / Maven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Spring Security / JWT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MyBatis-Plus / Lombok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Spring Mail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917999"/>
            <a:ext cx="46800" cy="1548000"/>
          </a:xfrm>
          <a:prstGeom prst="rect">
            <a:avLst/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917999"/>
            <a:ext cx="4176000" cy="15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フロントエンド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Vue 3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Vite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Pinia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Vue Router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Tailwind CSS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917999"/>
            <a:ext cx="46800" cy="1548000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2736000"/>
            <a:ext cx="4176000" cy="13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データベース・テスト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MySQL 8.0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H2（テスト用）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schema.sql / data.sql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736000"/>
            <a:ext cx="46800" cy="1332000"/>
          </a:xfrm>
          <a:prstGeom prst="rect">
            <a:avLst/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40000" y="2736000"/>
            <a:ext cx="4176000" cy="13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リリース構成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Docker / Docker Compose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backend: 8080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frontend: 5174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mysql: 3308 -&gt; 3306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0000" y="2736000"/>
            <a:ext cx="46800" cy="1332000"/>
          </a:xfrm>
          <a:prstGeom prst="rect">
            <a:avLst/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開発スケジュール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前輩資料の形式に合わせた工程整理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6000" y="1152000"/>
            <a:ext cx="1620000" cy="2700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4月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565999"/>
            <a:ext cx="1620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要件整理・DB設計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設計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1565999"/>
            <a:ext cx="46800" cy="1224000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000" y="1998000"/>
            <a:ext cx="144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400" b="1">
                <a:solidFill>
                  <a:srgbClr val="2D343C"/>
                </a:solidFill>
                <a:latin typeface="Yu Gothic"/>
              </a:rPr>
              <a:t>要件整理・DB設計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50000" y="2124000"/>
            <a:ext cx="396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36000" y="1152000"/>
            <a:ext cx="1620000" cy="270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5月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36000" y="1565999"/>
            <a:ext cx="1620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API設計・認証実装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設計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36000" y="1565999"/>
            <a:ext cx="46800" cy="1224000"/>
          </a:xfrm>
          <a:prstGeom prst="rect">
            <a:avLst/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26000" y="1998000"/>
            <a:ext cx="144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400" b="1">
                <a:solidFill>
                  <a:srgbClr val="2D343C"/>
                </a:solidFill>
                <a:latin typeface="Yu Gothic"/>
              </a:rPr>
              <a:t>API設計・認証実装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10000" y="2124000"/>
            <a:ext cx="396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896000" y="1152000"/>
            <a:ext cx="1620000" cy="270000"/>
          </a:xfrm>
          <a:prstGeom prst="roundRect">
            <a:avLst>
              <a:gd name="adj" fmla="val 25000"/>
            </a:avLst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6月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6000" y="1565999"/>
            <a:ext cx="1620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予約・管理画面実装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設計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6000" y="1565999"/>
            <a:ext cx="46800" cy="1224000"/>
          </a:xfrm>
          <a:prstGeom prst="rect">
            <a:avLst/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6000" y="1998000"/>
            <a:ext cx="144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400" b="1">
                <a:solidFill>
                  <a:srgbClr val="2D343C"/>
                </a:solidFill>
                <a:latin typeface="Yu Gothic"/>
              </a:rPr>
              <a:t>予約・管理画面実装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70000" y="2124000"/>
            <a:ext cx="396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056000" y="1152000"/>
            <a:ext cx="1620000" cy="270000"/>
          </a:xfrm>
          <a:prstGeom prst="roundRect">
            <a:avLst>
              <a:gd name="adj" fmla="val 25000"/>
            </a:avLst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7月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6000" y="1565999"/>
            <a:ext cx="1620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テスト・発表準備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設計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6000" y="1565999"/>
            <a:ext cx="46800" cy="1224000"/>
          </a:xfrm>
          <a:prstGeom prst="rect">
            <a:avLst/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6000" y="1998000"/>
            <a:ext cx="144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400" b="1">
                <a:solidFill>
                  <a:srgbClr val="2D343C"/>
                </a:solidFill>
                <a:latin typeface="Yu Gothic"/>
              </a:rPr>
              <a:t>テスト・発表準備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20000" y="3311999"/>
          <a:ext cx="8063999" cy="100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6623999"/>
              </a:tblGrid>
              <a:tr h="20159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期間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作業内容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343C"/>
                          </a:solidFill>
                          <a:latin typeface="Yu Gothic"/>
                        </a:rPr>
                        <a:t>4月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D343C"/>
                          </a:solidFill>
                          <a:latin typeface="Yu Gothic"/>
                        </a:rPr>
                        <a:t>要件整理・DB設計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343C"/>
                          </a:solidFill>
                          <a:latin typeface="Yu Gothic"/>
                        </a:rPr>
                        <a:t>5月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D343C"/>
                          </a:solidFill>
                          <a:latin typeface="Yu Gothic"/>
                        </a:rPr>
                        <a:t>API設計・認証実装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343C"/>
                          </a:solidFill>
                          <a:latin typeface="Yu Gothic"/>
                        </a:rPr>
                        <a:t>6月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D343C"/>
                          </a:solidFill>
                          <a:latin typeface="Yu Gothic"/>
                        </a:rPr>
                        <a:t>予約・管理画面実装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20160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343C"/>
                          </a:solidFill>
                          <a:latin typeface="Yu Gothic"/>
                        </a:rPr>
                        <a:t>7月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D343C"/>
                          </a:solidFill>
                          <a:latin typeface="Yu Gothic"/>
                        </a:rPr>
                        <a:t>テスト・発表準備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基本設計-アーキテクチャ図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Vue SPA + REST API + MyBatis-Plus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0000" y="1872000"/>
            <a:ext cx="1260000" cy="4680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Vue 3
画面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72000"/>
            <a:ext cx="1260000" cy="468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REST API
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72000"/>
            <a:ext cx="1260000" cy="468000"/>
          </a:xfrm>
          <a:prstGeom prst="roundRect">
            <a:avLst>
              <a:gd name="adj" fmla="val 25000"/>
            </a:avLst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Service
業務処理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16000" y="1872000"/>
            <a:ext cx="1260000" cy="468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Mapper
MyBatis-Plus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000" y="1872000"/>
            <a:ext cx="1260000" cy="468000"/>
          </a:xfrm>
          <a:prstGeom prst="roundRect">
            <a:avLst>
              <a:gd name="adj" fmla="val 25000"/>
            </a:avLst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MySQL
DB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35999" y="2106000"/>
            <a:ext cx="648001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16000" y="2106000"/>
            <a:ext cx="720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68000" y="2106000"/>
            <a:ext cx="612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12000" y="2106000"/>
            <a:ext cx="180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0000" y="2880000"/>
            <a:ext cx="3780000" cy="1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認証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Spring Security はステートレス設定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Bearer Token Filter で JWT を検証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/api/admin/** は ADMIN 権限が必要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2880000"/>
            <a:ext cx="46800" cy="1080000"/>
          </a:xfrm>
          <a:prstGeom prst="rect">
            <a:avLst/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40000" y="2880000"/>
            <a:ext cx="3780000" cy="1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メール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登録時のメール認証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パスワード再設定メール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予約リマインダー / 成団通知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0000" y="2880000"/>
            <a:ext cx="46800" cy="1080000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基本設計-データベース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schema.sql の主要テーブル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6000" y="954000"/>
          <a:ext cx="8783999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6983999"/>
              </a:tblGrid>
              <a:tr h="25714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テーブル名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役割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users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一般ユーザー情報、メール認証状態、カロリー・アレルゲン設定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admins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管理者ログイン情報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menus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弁当メニュー、価格、画像、提供日、熱量、アレルゲン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reservations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予約情報、数量、支払状態、注文状態、返金理由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email_tokens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メール認証・パスワード再設定トークン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2571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system_settings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予約締切時間、成団人数などの設定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0000" y="3330000"/>
            <a:ext cx="1512000" cy="2880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20000" y="3330000"/>
            <a:ext cx="1512000" cy="288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reservations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2000" y="3330000"/>
            <a:ext cx="1512000" cy="288000"/>
          </a:xfrm>
          <a:prstGeom prst="roundRect">
            <a:avLst>
              <a:gd name="adj" fmla="val 25000"/>
            </a:avLst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menus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32000" y="3330000"/>
            <a:ext cx="1512000" cy="288000"/>
          </a:xfrm>
          <a:prstGeom prst="roundRect">
            <a:avLst>
              <a:gd name="adj" fmla="val 25000"/>
            </a:avLst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system_settings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50000" y="3474000"/>
            <a:ext cx="252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68000" y="3474000"/>
            <a:ext cx="648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基本設計-画面遷移図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frontend/src/router/index.js に基づく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224000"/>
            <a:ext cx="1332000" cy="2952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ログイン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82000" y="1368000"/>
            <a:ext cx="324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60000" y="1224000"/>
            <a:ext cx="1332000" cy="2952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本日のメニュー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10000" y="1368000"/>
            <a:ext cx="324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7999" y="1224000"/>
            <a:ext cx="1332000" cy="2952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メニュー詳細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38000" y="1368000"/>
            <a:ext cx="324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5999" y="1224000"/>
            <a:ext cx="1332000" cy="2952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カート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65999" y="1368000"/>
            <a:ext cx="324001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43999" y="1224000"/>
            <a:ext cx="1332000" cy="2952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マイページ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990000"/>
            <a:ext cx="252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182F48"/>
                </a:solidFill>
                <a:latin typeface="Yu Gothic"/>
              </a:rPr>
              <a:t>一般ユーザー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2592000"/>
            <a:ext cx="1944000" cy="2952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管理者ログイン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94000" y="2736000"/>
            <a:ext cx="683999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131999" y="2592000"/>
            <a:ext cx="1944000" cy="2952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ダッシュボード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93999" y="2736000"/>
            <a:ext cx="684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832000" y="2592000"/>
            <a:ext cx="1944000" cy="295200"/>
          </a:xfrm>
          <a:prstGeom prst="roundRect">
            <a:avLst>
              <a:gd name="adj" fmla="val 25000"/>
            </a:avLst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メニュー管理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311999"/>
            <a:ext cx="1944000" cy="295200"/>
          </a:xfrm>
          <a:prstGeom prst="roundRect">
            <a:avLst>
              <a:gd name="adj" fmla="val 25000"/>
            </a:avLst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日次集計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31999" y="3311999"/>
            <a:ext cx="1944000" cy="295200"/>
          </a:xfrm>
          <a:prstGeom prst="roundRect">
            <a:avLst>
              <a:gd name="adj" fmla="val 25000"/>
            </a:avLst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月次集計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32000" y="3311999"/>
            <a:ext cx="1944000" cy="295200"/>
          </a:xfrm>
          <a:prstGeom prst="roundRect">
            <a:avLst>
              <a:gd name="adj" fmla="val 25000"/>
            </a:avLst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設定・ユーザー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000" y="2358000"/>
            <a:ext cx="252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182F48"/>
                </a:solidFill>
                <a:latin typeface="Yu Gothic"/>
              </a:rPr>
              <a:t>管理者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画面説明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主要画面とできること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936000"/>
            <a:ext cx="4140000" cy="12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本日のメニュー画面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予約可能メニュー、締切時間、成団人数を表示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メニュー詳細・カート画面へ遷移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936000"/>
            <a:ext cx="46800" cy="1260000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936000"/>
            <a:ext cx="4140000" cy="12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カート・予約画面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複数メニューをまとめて予約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支払方法・数量を指定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936000"/>
            <a:ext cx="46800" cy="1260000"/>
          </a:xfrm>
          <a:prstGeom prst="rect">
            <a:avLst/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2592000"/>
            <a:ext cx="4140000" cy="12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マイページ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予約履歴、支払申請、注文状態確認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氏名・パスワード・食事設定を変更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92000"/>
            <a:ext cx="46800" cy="1260000"/>
          </a:xfrm>
          <a:prstGeom prst="rect">
            <a:avLst/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40000" y="2592000"/>
            <a:ext cx="4140000" cy="12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管理画面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集計、メニュー管理、画像アップロード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CSV出力、返金、成団確定を操作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0000" y="2592000"/>
            <a:ext cx="46800" cy="1260000"/>
          </a:xfrm>
          <a:prstGeom prst="rect">
            <a:avLst/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テスト仕様書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src/test/java にあるテストを整理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917999"/>
          <a:ext cx="8928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000"/>
                <a:gridCol w="3708000"/>
                <a:gridCol w="3708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分類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確認内容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対象テスト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認証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ログイン、メール認証、パスワード再設定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AuthControllerMailFlowTest / PasswordResetServiceTest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セキュリティ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APIの権限、JWT認証、管理者制御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ApiSkeletonSecurityTest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予約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予約作成、カート予約、支払状態、注文状態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ReservationServiceTest / ReservationControllerTest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メニュー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本日メニュー取得、メニュー管理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MenuServiceTest / UserMenuControllerTest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管理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日次・月次集計、ユーザー管理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AdminAggregateServiceTest / AdminControllerTest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メール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送信ON/OFF、通知処理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MailServiceTest / EmailVerificationServiceTest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0000" y="3851999"/>
            <a:ext cx="8208000" cy="216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単体テストだけでなく、Controller 層のAPI動作も確認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苦労した点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実装内容から見た技術課題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3999" y="990000"/>
            <a:ext cx="4176000" cy="26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バックエンド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Spring Security と JWT の権限制御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メール認証・パスワード再設定のトークン管理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予約締切・成団条件・状態更新の整理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CSV出力と集計ロジック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990000"/>
            <a:ext cx="46800" cy="2664000"/>
          </a:xfrm>
          <a:prstGeom prst="rect">
            <a:avLst/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990000"/>
            <a:ext cx="4176000" cy="26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フロントエンド・連携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Vue Router の権限別画面遷移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Pinia でのログイン状態管理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管理者画面とユーザー画面のAPI分離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画像アップロードと表示の扱い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990000"/>
            <a:ext cx="46800" cy="2664000"/>
          </a:xfrm>
          <a:prstGeom prst="rect">
            <a:avLst/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改善点・課題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今後の品質向上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3999" y="990000"/>
            <a:ext cx="4176000" cy="26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機能面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予約キャンセル操作の画面上での分かりやすさ向上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支払方法の外部決済連携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メニュー画像・アレルゲン表示の改善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スマートフォン画面の操作性向上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990000"/>
            <a:ext cx="46800" cy="2664000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990000"/>
            <a:ext cx="4176000" cy="26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技術面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トランザクション境界の整理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APIレスポンス形式の統一徹底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E2Eテストの追加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本番用メール・JWT secret 管理の強化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990000"/>
            <a:ext cx="46800" cy="2664000"/>
          </a:xfrm>
          <a:prstGeom prst="rect">
            <a:avLst/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0"/>
            <a:ext cx="8136000" cy="32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3600" b="1">
                <a:solidFill>
                  <a:srgbClr val="182F48"/>
                </a:solidFill>
                <a:latin typeface="Yu Gothic"/>
              </a:rPr>
              <a:t>ご清聴ありがとうございました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232000"/>
            <a:ext cx="8136000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2800" b="1">
                <a:solidFill>
                  <a:srgbClr val="3773B9"/>
                </a:solidFill>
                <a:latin typeface="Yu Gothic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880000"/>
            <a:ext cx="8136000" cy="180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400" b="0">
                <a:solidFill>
                  <a:srgbClr val="646F7B"/>
                </a:solidFill>
                <a:latin typeface="Yu Gothic"/>
              </a:rPr>
              <a:t>弁当予約管理システム / 2026年度新人研修 成果報告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