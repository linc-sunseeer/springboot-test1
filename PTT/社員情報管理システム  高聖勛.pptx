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CA7558-E86D-4C9B-9E5C-1DCEEC86A9C5}">
  <a:tblStyle styleId="{81CA7558-E86D-4C9B-9E5C-1DCEEC86A9C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皆様、こんにちは。S4組の高聖勛と申します。これから課題を発表させていただきます。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c1f4fa330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c1f4fa330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こちらは目次です。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c1f4fa330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c1f4fa330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ず、システムの概要からご説明します。本システムは、社員の情報を管理者のみ管理できるシステムです。主な機能としては、社員一覧の表示、新規登録、情報更新、削除、検索、並び替えがあります。これにより、社員情報の管理作業の効率化、スムーズな運用を実現できます。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1f80d24c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c1f80d24c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開発スケジュールに関しては、2024年1月12日から環境構築と設計を開始し、途中は開発、各テスト調整、最後は資料作成いたしました。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c1f4fa330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c1f4fa330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次に、開発環境と言語について、開発にはSpringToolSuiteをIDEとして使用し、バックエンドにはSpring bootとMybatisを使っています。フロントエンドはHTML、Thymeleaf(タイムリーフ)、CSS、JavaScriptで構成し、データベースにはMySQLを使用しています。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cf80fdcd1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cf80fdcd1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f80fdcd1a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cf80fdcd1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イラスティク IP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f80fdcd1a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cf80fdcd1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c1f4fa330d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c1f4fa330d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機能一覧には、ログイン・ログアウト機能、社員一覧表示、検索、並び替え、社員新規登録、社員詳細表示、削除、編集が含まれます。これらの機能を通じて、管理者は効率的に社員情報を管理することができます。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1f4fa330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c1f4fa330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こちらはデータベースの仕様です。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c1f4fa330d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c1f4fa330d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続いてはデモンストレーションです。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c1f80d24c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c1f80d24c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c1f80d24c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c1f80d24c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1f80d24c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1f80d24c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c1f80d24c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c1f80d24c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c1f80d24c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c1f80d24c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fe8102d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cfe8102d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bd384aa8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bd384aa8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今回の課題で苦労した点は、メインが三つです。初めてのSpringBootの利用、フロントとバックの同時進行とデザイン設計でございます。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6bd384aa8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6bd384aa8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​​今後の改善点としては、操作履歴の管理、CSVの導入・導出機能、削除した社員情報をデータベースに残すことなど、さらなる機能拡張が求められます。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c1f80d24c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c1f80d24c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ご清聴ありがとうございました。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52.196.183.166:9999/sunseer/logi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社員情報管理システム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高 聖勛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目次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8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システム概要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開発スケジュール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開発環境＆開発言語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リリース環境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サーバー構築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機能一覧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基本設計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画面説明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テスト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苦労した点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改善点・課題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システム概要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社員の情報を管理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管理者のみログイン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管理者新規登録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社員一覧表示、新規登録、更新、削除、検索、並び替え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部署管理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CSV</a:t>
            </a:r>
            <a:r>
              <a:rPr lang="ja"/>
              <a:t>ダウンロード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操作履歴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ja"/>
              <a:t>AIチャット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開発スケジュール</a:t>
            </a:r>
            <a:endParaRPr/>
          </a:p>
        </p:txBody>
      </p:sp>
      <p:graphicFrame>
        <p:nvGraphicFramePr>
          <p:cNvPr id="105" name="Google Shape;105;p16"/>
          <p:cNvGraphicFramePr/>
          <p:nvPr/>
        </p:nvGraphicFramePr>
        <p:xfrm>
          <a:off x="657225" y="208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{81CA7558-E86D-4C9B-9E5C-1DCEEC86A9C5}</a:tableStyleId>
              </a:tblPr>
              <a:tblGrid>
                <a:gridCol w="952500"/>
                <a:gridCol w="952500"/>
                <a:gridCol w="952500"/>
                <a:gridCol w="952500"/>
                <a:gridCol w="952500"/>
                <a:gridCol w="1162050"/>
                <a:gridCol w="952500"/>
                <a:gridCol w="9525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2024/01/12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～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2024/01/21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2024/01/22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～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2024/04/24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2024/04/25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2024/04/26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環境構築、設計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バックエンド開発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フロントエンド開発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単体テスト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結合テスト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リリース環境構築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リリース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リリース検証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資料作成</a:t>
                      </a:r>
                      <a:endParaRPr sz="1000"/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開発環境＆開発言語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9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バックエンド: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Spring boot、Spring Security、Mybatis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フロントエンド: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HTML、</a:t>
            </a:r>
            <a:r>
              <a:rPr lang="ja"/>
              <a:t>Thymeleaf、</a:t>
            </a:r>
            <a:r>
              <a:rPr lang="ja"/>
              <a:t>CSS、JavaScript、Ajax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データベース: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MySQL 8.0.32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リリース</a:t>
            </a:r>
            <a:r>
              <a:rPr lang="ja"/>
              <a:t>環境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3325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5518"/>
              <a:t>DBサーバー</a:t>
            </a:r>
            <a:r>
              <a:rPr b="1" lang="ja" sz="5518"/>
              <a:t>:</a:t>
            </a:r>
            <a:r>
              <a:rPr lang="ja" sz="5518">
                <a:solidFill>
                  <a:srgbClr val="CC0000"/>
                </a:solidFill>
              </a:rPr>
              <a:t>AWS EC2</a:t>
            </a:r>
            <a:r>
              <a:rPr lang="ja" sz="5518">
                <a:solidFill>
                  <a:srgbClr val="E69138"/>
                </a:solidFill>
              </a:rPr>
              <a:t>　</a:t>
            </a:r>
            <a:r>
              <a:rPr b="1" lang="ja" sz="5518"/>
              <a:t>OS:</a:t>
            </a:r>
            <a:r>
              <a:rPr lang="ja" sz="5518">
                <a:solidFill>
                  <a:srgbClr val="CC0000"/>
                </a:solidFill>
              </a:rPr>
              <a:t>Amazon Linux 2</a:t>
            </a:r>
            <a:r>
              <a:rPr lang="ja" sz="5518"/>
              <a:t>　</a:t>
            </a:r>
            <a:r>
              <a:rPr b="1" lang="ja" sz="5518"/>
              <a:t>データベース:</a:t>
            </a:r>
            <a:r>
              <a:rPr lang="ja" sz="5518">
                <a:solidFill>
                  <a:srgbClr val="CC0000"/>
                </a:solidFill>
              </a:rPr>
              <a:t>MySQL 8.0.36</a:t>
            </a:r>
            <a:endParaRPr sz="5518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4081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5518"/>
              <a:t>EMS</a:t>
            </a:r>
            <a:r>
              <a:rPr b="1" lang="ja" sz="5518"/>
              <a:t>サーバー:</a:t>
            </a:r>
            <a:r>
              <a:rPr lang="ja" sz="5518">
                <a:solidFill>
                  <a:srgbClr val="CC0000"/>
                </a:solidFill>
              </a:rPr>
              <a:t>AWS EC2</a:t>
            </a:r>
            <a:r>
              <a:rPr lang="ja" sz="5518">
                <a:solidFill>
                  <a:srgbClr val="E69138"/>
                </a:solidFill>
              </a:rPr>
              <a:t>　</a:t>
            </a:r>
            <a:r>
              <a:rPr b="1" lang="ja" sz="5518"/>
              <a:t>OS:</a:t>
            </a:r>
            <a:r>
              <a:rPr lang="ja" sz="5518">
                <a:solidFill>
                  <a:srgbClr val="CC0000"/>
                </a:solidFill>
              </a:rPr>
              <a:t>Amazon Linux 2</a:t>
            </a:r>
            <a:r>
              <a:rPr lang="ja" sz="5518"/>
              <a:t>　</a:t>
            </a:r>
            <a:r>
              <a:rPr b="1" lang="ja" sz="5518"/>
              <a:t>環境:</a:t>
            </a:r>
            <a:r>
              <a:rPr lang="ja" sz="5518">
                <a:solidFill>
                  <a:srgbClr val="CC0000"/>
                </a:solidFill>
              </a:rPr>
              <a:t>openjdk 17.0.10</a:t>
            </a:r>
            <a:endParaRPr sz="5518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25925"/>
            <a:ext cx="8839200" cy="788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サーバー構築</a:t>
            </a:r>
            <a:endParaRPr b="0" sz="2489"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0725" y="1853850"/>
            <a:ext cx="4226151" cy="32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EMS</a:t>
            </a:r>
            <a:r>
              <a:rPr lang="ja"/>
              <a:t>サーバー</a:t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304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機能一覧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729450" y="1853850"/>
            <a:ext cx="7688700" cy="32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ja"/>
              <a:t>ログイン・ログアウト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ja"/>
              <a:t>管理者新規登録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ja"/>
              <a:t>在職社員、離職社員一覧表示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ja"/>
              <a:t>並び替え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ja"/>
              <a:t>検索、FastView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ja"/>
              <a:t>部署管理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ja"/>
              <a:t>社員詳細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ja"/>
              <a:t>社員新規登録、</a:t>
            </a:r>
            <a:r>
              <a:rPr b="1" lang="ja"/>
              <a:t>編集、退職、削除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ja"/>
              <a:t>CSVダウンロード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ja"/>
              <a:t>操作履歴一覧</a:t>
            </a:r>
            <a:endParaRPr b="1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b="1" lang="ja"/>
              <a:t>AIチャット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927775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基本設計 </a:t>
            </a:r>
            <a:r>
              <a:rPr b="0" lang="ja"/>
              <a:t>(データベースの仕様)</a:t>
            </a:r>
            <a:endParaRPr b="0"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729450" y="2540700"/>
            <a:ext cx="7688700" cy="17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スキーマ名：test_db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テーブル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department:</a:t>
            </a:r>
            <a:r>
              <a:rPr lang="ja"/>
              <a:t>部署のデータを格納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/>
              <a:t>user:</a:t>
            </a:r>
            <a:r>
              <a:rPr lang="ja"/>
              <a:t>管理者のデータを格納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ja"/>
              <a:t>employee:</a:t>
            </a:r>
            <a:r>
              <a:rPr lang="ja"/>
              <a:t> 各社員のデータを格納</a:t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3275" y="2116138"/>
            <a:ext cx="5493101" cy="258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画面説明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実際に動いてみましょう！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ja" u="sng">
                <a:solidFill>
                  <a:schemeClr val="hlink"/>
                </a:solidFill>
                <a:hlinkClick r:id="rId3"/>
              </a:rPr>
              <a:t>http://52.196.183.166:9999/sunseer/login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テスト仕様書 </a:t>
            </a:r>
            <a:r>
              <a:rPr b="0" lang="ja"/>
              <a:t>(ログイン画面)</a:t>
            </a:r>
            <a:endParaRPr b="0"/>
          </a:p>
        </p:txBody>
      </p:sp>
      <p:graphicFrame>
        <p:nvGraphicFramePr>
          <p:cNvPr id="156" name="Google Shape;156;p24"/>
          <p:cNvGraphicFramePr/>
          <p:nvPr/>
        </p:nvGraphicFramePr>
        <p:xfrm>
          <a:off x="2667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{81CA7558-E86D-4C9B-9E5C-1DCEEC86A9C5}</a:tableStyleId>
              </a:tblPr>
              <a:tblGrid>
                <a:gridCol w="952500"/>
                <a:gridCol w="952500"/>
                <a:gridCol w="1562100"/>
                <a:gridCol w="4191000"/>
                <a:gridCol w="9525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ログイン画面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テスト実施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No.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正常系/異常系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イベント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検査内容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結果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初期表示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入力項目の配置が、画面レイアウトに一致すること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ログインボタンを押す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メールアドレス、パスワードと登録情報を一致すると、社員一覧画面に遷移すること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異常系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//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メールアドレス、パスワードを一致しないと遷移しないこと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テスト仕様書 </a:t>
            </a:r>
            <a:r>
              <a:rPr b="0" lang="ja"/>
              <a:t>(社員一覧画面)</a:t>
            </a:r>
            <a:endParaRPr/>
          </a:p>
        </p:txBody>
      </p:sp>
      <p:graphicFrame>
        <p:nvGraphicFramePr>
          <p:cNvPr id="162" name="Google Shape;162;p25"/>
          <p:cNvGraphicFramePr/>
          <p:nvPr/>
        </p:nvGraphicFramePr>
        <p:xfrm>
          <a:off x="268500" y="185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{81CA7558-E86D-4C9B-9E5C-1DCEEC86A9C5}</a:tableStyleId>
              </a:tblPr>
              <a:tblGrid>
                <a:gridCol w="952500"/>
                <a:gridCol w="952500"/>
                <a:gridCol w="1562100"/>
                <a:gridCol w="4191000"/>
                <a:gridCol w="952500"/>
              </a:tblGrid>
              <a:tr h="248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一覧画面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テスト実施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No.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正常系/異常系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イベント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検査内容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結果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初期表示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画面項目の配置が、画面レイアウトに一致すること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検索オプション押下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>
                          <a:solidFill>
                            <a:srgbClr val="1F1F1F"/>
                          </a:solidFill>
                        </a:rPr>
                        <a:t>オプションメニューが開かれること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検索ボタン押下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指定した条件を満たす情報が表示されること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ログアウトボタン押下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ログインページに遷移すること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一覧の表示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データベースからデータを取得して、テーブルに配置していること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カラム名側の矢印押下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カラム名側の矢印押下した場合、昇順と降順を切り替えること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詳細ボタン押下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詳細のページに遷移すること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編集ボタン押下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編集のページに遷移すること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削除ボタン押下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警告ダイアログが出現すること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//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警告ダイアログで"OK"を選択時、選択した情報を削除されていること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9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//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警告ダイアログで"キャンセル"を選択時、選択した情報を削除されていること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社員追加ボタン押下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新規社員登録のページに遷移すること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テスト仕様書 </a:t>
            </a:r>
            <a:r>
              <a:rPr b="0" lang="ja"/>
              <a:t>(社員詳細画面)</a:t>
            </a:r>
            <a:endParaRPr/>
          </a:p>
        </p:txBody>
      </p:sp>
      <p:graphicFrame>
        <p:nvGraphicFramePr>
          <p:cNvPr id="168" name="Google Shape;168;p26"/>
          <p:cNvGraphicFramePr/>
          <p:nvPr/>
        </p:nvGraphicFramePr>
        <p:xfrm>
          <a:off x="2685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{81CA7558-E86D-4C9B-9E5C-1DCEEC86A9C5}</a:tableStyleId>
              </a:tblPr>
              <a:tblGrid>
                <a:gridCol w="952500"/>
                <a:gridCol w="952500"/>
                <a:gridCol w="1562100"/>
                <a:gridCol w="4191000"/>
                <a:gridCol w="9525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詳細画面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テスト実施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No.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正常系/異常系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イベント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検査内容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結果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初期表示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画面項目の配置が、画面レイアウトに一致すること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一覧の表示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データベースからデータを取得して、テーブルに配置していること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カラム名側の矢印押下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カラム名側の矢印押下した場合、昇順と降順を切り替えること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正常系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戻るボタン押下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戻るボタン押下した場合、社員一覧ページに遷移すること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1000"/>
                        <a:t>◯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テスト仕様書 </a:t>
            </a:r>
            <a:r>
              <a:rPr b="0" lang="ja"/>
              <a:t>(社員新規登録画面)</a:t>
            </a:r>
            <a:endParaRPr/>
          </a:p>
        </p:txBody>
      </p:sp>
      <p:graphicFrame>
        <p:nvGraphicFramePr>
          <p:cNvPr id="174" name="Google Shape;174;p27"/>
          <p:cNvGraphicFramePr/>
          <p:nvPr/>
        </p:nvGraphicFramePr>
        <p:xfrm>
          <a:off x="452438" y="185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{81CA7558-E86D-4C9B-9E5C-1DCEEC86A9C5}</a:tableStyleId>
              </a:tblPr>
              <a:tblGrid>
                <a:gridCol w="952500"/>
                <a:gridCol w="952500"/>
                <a:gridCol w="952500"/>
                <a:gridCol w="4791075"/>
                <a:gridCol w="590550"/>
              </a:tblGrid>
              <a:tr h="243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追加画面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テスト実施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No.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正常系/異常系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イベント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検査内容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結果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初期表示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入力欄と項目を表示すること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2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追加ボタンの活性・非活性が正しいこと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3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追加ボタン押下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顔画像をアップロードしていない場合は社員追加しないこと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4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全ての項目が正しく入力/アップロードした場合、社員追加して、社員詳細ページに遷移すること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5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戻るボタン押下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戻るボタン押下した場合、社員一覧ページに遷移すること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6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項目入力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IDを入力していない場合、エラーメッセージを出て、社員追加の操作や画面遷移しないこと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7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氏名を入力していない場合、エラーメッセージを出て、社員追加の操作や画面遷移しないこと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8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性別を入力していない場合、エラーメッセージを出て、社員追加の操作や画面遷移しないこと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9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部署を入力していない場合、エラーメッセージを出て、社員追加の操作や画面遷移しないこと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10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性別を入力していない場合、エラーメッセージを出て、社員追加の操作や画面遷移しないこと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11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生年月日を入力していない場合、エラーメッセージを出て、社員追加の操作や画面遷移しないこと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12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メールアドレスを入力していない場合、エラーメッセージを出て、社員追加の操作や画面遷移しないこと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13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メールアドレスの正しく形で入力していない場合、エラーメッセージを出て、社員追加の操作や画面遷移しないこと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14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電話番号を入力していない場合、エラーメッセージを出て、社員追加の操作や画面遷移しないこと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15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電話番号の正しく形で入力していない場合、エラーメッセージを出て、社員追加の操作や画面遷移しないこと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16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住所を入力していない場合、エラーメッセージを出て、社員追加の操作や画面遷移しないこと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17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特技を入力していない場合、エラーメッセージを出て、社員追加の操作や画面遷移しないこと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テスト仕様書 </a:t>
            </a:r>
            <a:r>
              <a:rPr b="0" lang="ja"/>
              <a:t>(社員編集画面)</a:t>
            </a:r>
            <a:endParaRPr/>
          </a:p>
        </p:txBody>
      </p:sp>
      <p:graphicFrame>
        <p:nvGraphicFramePr>
          <p:cNvPr id="180" name="Google Shape;180;p28"/>
          <p:cNvGraphicFramePr/>
          <p:nvPr/>
        </p:nvGraphicFramePr>
        <p:xfrm>
          <a:off x="435188" y="185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{81CA7558-E86D-4C9B-9E5C-1DCEEC86A9C5}</a:tableStyleId>
              </a:tblPr>
              <a:tblGrid>
                <a:gridCol w="952500"/>
                <a:gridCol w="952500"/>
                <a:gridCol w="952500"/>
                <a:gridCol w="4791075"/>
                <a:gridCol w="628650"/>
              </a:tblGrid>
              <a:tr h="20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編集画面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テスト実施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No.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正常系/異常系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イベント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検査内容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結果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初期表示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編集の社員今現在の情報をデフォルトで表示すること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2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編集ボタンの活性・非活性が正しいこと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3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更新ボタン押下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顔画像アップロードしていない場合、今の顔画像を維持すること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4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全ての項目が正しく入力/アップロードした場合、社員の情報を編集して、社員詳細ページに遷移すること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5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正常系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戻るボタン押下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戻るボタン押下した場合、社員一覧ページに遷移すること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6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項目入力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IDを入力していない場合、エラーメッセージを出て、社員追加の操作や画面遷移しないこと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7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氏名を入力していない場合、エラーメッセージを出て、社員追加の操作や画面遷移しないこと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8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性別を入力していない場合、エラーメッセージを出て、社員追加の操作や画面遷移しないこと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9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部署を入力していない場合、エラーメッセージを出て、社員追加の操作や画面遷移しないこと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10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性別を入力していない場合、エラーメッセージを出て、社員追加の操作や画面遷移しないこと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11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生年月日を入力していない場合、エラーメッセージを出て、社員追加の操作や画面遷移しないこと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12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メールアドレスを入力していない場合、エラーメッセージを出て、社員追加の操作や画面遷移しないこと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13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メールアドレスの正しく形で入力していない場合、エラーメッセージを出て、社員追加の操作や画面遷移しないこと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14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電話番号を入力していない場合、エラーメッセージを出て、社員追加の操作や画面遷移しないこと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15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電話番号の正しく形で入力していない場合、エラーメッセージを出て、社員追加の操作や画面遷移しないこと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16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住所を入力していない場合、エラーメッセージを出て、社員追加の操作や画面遷移しないこと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2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17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異常系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//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特技を入力していない場合、エラーメッセージを出て、社員追加の操作や画面遷移しないこと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 sz="700"/>
                        <a:t>◯</a:t>
                      </a:r>
                      <a:endParaRPr sz="7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午前中バグ修正した。</a:t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800" y="2221900"/>
            <a:ext cx="8576000" cy="23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苦労した点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初めてSpring Bootを使って開発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フロントとバックの同時進行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デザイン設計</a:t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改善点・課題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デザイン設計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CSVのアップロード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GPTのAPIのToken使用量を減らすこと</a:t>
            </a:r>
            <a:endParaRPr sz="15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ja" sz="1500"/>
              <a:t>保守、運用、バグを見つける、修正する。</a:t>
            </a:r>
            <a:endParaRPr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ctrTitle"/>
          </p:nvPr>
        </p:nvSpPr>
        <p:spPr>
          <a:xfrm>
            <a:off x="729450" y="173940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900"/>
              <a:t>ご清聴ありがとうございました！</a:t>
            </a:r>
            <a:endParaRPr sz="3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