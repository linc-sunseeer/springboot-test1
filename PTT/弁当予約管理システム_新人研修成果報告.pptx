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601200" cy="5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32000" cy="5400000"/>
          </a:xfrm>
          <a:prstGeom prst="rect">
            <a:avLst/>
          </a:prstGeom>
          <a:solidFill>
            <a:srgbClr val="18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360000"/>
            <a:ext cx="1728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株式会社サンシーア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20000"/>
            <a:ext cx="1728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新人研修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2000" y="1440000"/>
            <a:ext cx="6408000" cy="360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3400" b="1">
                <a:solidFill>
                  <a:srgbClr val="182F48"/>
                </a:solidFill>
                <a:latin typeface="Yu Gothic"/>
              </a:rPr>
              <a:t>弁当予約管理システム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0000" y="1890000"/>
            <a:ext cx="4320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200" b="1">
                <a:solidFill>
                  <a:srgbClr val="3773B9"/>
                </a:solidFill>
                <a:latin typeface="Yu Gothic"/>
              </a:rPr>
              <a:t>2026年度新人研修 成果報告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8000" y="2358000"/>
            <a:ext cx="6048000" cy="432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700" b="0">
                <a:solidFill>
                  <a:srgbClr val="2D343C"/>
                </a:solidFill>
                <a:latin typeface="Yu Gothic"/>
              </a:rPr>
              <a:t>Vue 3 と Spring Boot による、社内向け弁当予約・集計管理システム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28000" y="3060000"/>
            <a:ext cx="1224000" cy="234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Vue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03999" y="3060000"/>
            <a:ext cx="1224000" cy="234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Spring Boot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0000" y="3060000"/>
            <a:ext cx="1224000" cy="2340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MyBatis-Plus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5999" y="3060000"/>
            <a:ext cx="1224000" cy="234000"/>
          </a:xfrm>
          <a:prstGeom prst="roundRect">
            <a:avLst>
              <a:gd name="adj" fmla="val 25000"/>
            </a:avLst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MySQL 8.0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発表内容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0000" y="972000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6000" y="100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システム概要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422000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6000" y="145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機能一覧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1872000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000" y="190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開発環境＆開発言語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" y="2322000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6000" y="235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開発スケジュール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2772000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6000" y="280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基本設計-アーキテクチャ図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3221999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6000" y="325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基本設計-データベース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3671999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6000" y="370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基本設計-画面遷移図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68000" y="972000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4000" y="100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画面説明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68000" y="1422000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4000" y="145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セキュリティ対策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68000" y="1872000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4000" y="190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テスト仕様書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68000" y="2322000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4000" y="235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苦労した点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68000" y="2772000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4000" y="280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改善点・課題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68000" y="3221999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4000" y="325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要件実現テスト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68000" y="3671999"/>
            <a:ext cx="360000" cy="216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4000" y="3700800"/>
            <a:ext cx="3491999" cy="1368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2D343C"/>
                </a:solidFill>
                <a:latin typeface="Yu Gothic"/>
              </a:rPr>
              <a:t>独自開発機能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システム概要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実装済みコードに基づく概要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8000" y="990000"/>
            <a:ext cx="4140000" cy="2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目的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社内の弁当予約をWeb化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予約締切・成団条件をシステムで管理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日次・月次集計を管理者画面で確認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CSV出力により集計作業を効率化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" y="990000"/>
            <a:ext cx="46800" cy="2700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990000"/>
            <a:ext cx="4140000" cy="2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対象ユーザー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一般ユーザー：登録、メール認証、ログイン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一般ユーザー：メニュー閲覧、カート予約、支払申請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管理者：メニュー管理、予約集計、ユーザー管理</a:t>
            </a:r>
          </a:p>
          <a:p>
            <a:pPr>
              <a:spcAft>
                <a:spcPts val="300"/>
              </a:spcAft>
              <a:defRPr sz="1400">
                <a:solidFill>
                  <a:srgbClr val="2D343C"/>
                </a:solidFill>
                <a:latin typeface="Yu Gothic"/>
              </a:defRPr>
            </a:pPr>
            <a:r>
              <a:t>管理者：締切時間・成団人数の設定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990000"/>
            <a:ext cx="46800" cy="2700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4068000"/>
            <a:ext cx="8208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700" b="1">
                <a:solidFill>
                  <a:srgbClr val="182F48"/>
                </a:solidFill>
                <a:latin typeface="Yu Gothic"/>
              </a:rPr>
              <a:t>紙運用ではなく、予約・支払・集計・通知をAPI中心に扱う構成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機能一覧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Controller / Router から確認できる実装範囲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000" y="936000"/>
            <a:ext cx="2772000" cy="313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認証・ユーザー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ユーザー登録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メール認証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JWTログイン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パスワード再設定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プロフィール変更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目標カロリー・アレルゲン設定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936000"/>
            <a:ext cx="46800" cy="3131999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01999" y="936000"/>
            <a:ext cx="2772000" cy="313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予約機能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本日のメニュー取得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週間メニュー表示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メニュー詳細表示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カート一括予約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予約履歴確認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支払申請・注文状態更新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1999" y="936000"/>
            <a:ext cx="46800" cy="3131999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8000" y="936000"/>
            <a:ext cx="2772000" cy="313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管理者機能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ダッシュボード統計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メニューCRUD・画像アップロード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日次・月次集計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CSVエクスポート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予約確定・全件キャンセル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返金・ユーザー管理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8000" y="936000"/>
            <a:ext cx="46800" cy="3131999"/>
          </a:xfrm>
          <a:prstGeom prst="rect">
            <a:avLst/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開発環境＆開発言語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pom.xml / package.json / compose.yaml に基づく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917999"/>
            <a:ext cx="4176000" cy="15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バックエンド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Java 17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Spring Boot 3.2.6 / Maven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Spring Security / JWT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MyBatis-Plus / Lombok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Spring 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917999"/>
            <a:ext cx="46800" cy="1548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917999"/>
            <a:ext cx="4176000" cy="15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フロントエンド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Vue 3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Vite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Pinia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Vue Router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Tailwind CSS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917999"/>
            <a:ext cx="46800" cy="1548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2736000"/>
            <a:ext cx="4176000" cy="13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データベース・テスト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MySQL 8.0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H2（テスト用）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schema.sql / data.sql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736000"/>
            <a:ext cx="46800" cy="1332000"/>
          </a:xfrm>
          <a:prstGeom prst="rect">
            <a:avLst/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0000" y="2736000"/>
            <a:ext cx="4176000" cy="13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リリース構成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Docker / Docker Compose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backend: 8080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frontend: 5174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mysql: 3308 -&gt; 3306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0000" y="2736000"/>
            <a:ext cx="46800" cy="1332000"/>
          </a:xfrm>
          <a:prstGeom prst="rect">
            <a:avLst/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開発スケジュール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前輩資料の形式に合わせた工程整理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000" y="1152000"/>
            <a:ext cx="1620000" cy="270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565999"/>
            <a:ext cx="1620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要件整理・DB設計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設計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565999"/>
            <a:ext cx="46800" cy="1224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000" y="1998000"/>
            <a:ext cx="144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400" b="1">
                <a:solidFill>
                  <a:srgbClr val="2D343C"/>
                </a:solidFill>
                <a:latin typeface="Yu Gothic"/>
              </a:rPr>
              <a:t>要件整理・DB設計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50000" y="2124000"/>
            <a:ext cx="396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36000" y="1152000"/>
            <a:ext cx="1620000" cy="270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5月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36000" y="1565999"/>
            <a:ext cx="1620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API設計・認証実装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設計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36000" y="1565999"/>
            <a:ext cx="46800" cy="1224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26000" y="1998000"/>
            <a:ext cx="144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400" b="1">
                <a:solidFill>
                  <a:srgbClr val="2D343C"/>
                </a:solidFill>
                <a:latin typeface="Yu Gothic"/>
              </a:rPr>
              <a:t>API設計・認証実装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10000" y="2124000"/>
            <a:ext cx="396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96000" y="1152000"/>
            <a:ext cx="1620000" cy="2700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6月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6000" y="1565999"/>
            <a:ext cx="1620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予約・管理画面実装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設計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6000" y="1565999"/>
            <a:ext cx="46800" cy="1224000"/>
          </a:xfrm>
          <a:prstGeom prst="rect">
            <a:avLst/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6000" y="1998000"/>
            <a:ext cx="144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400" b="1">
                <a:solidFill>
                  <a:srgbClr val="2D343C"/>
                </a:solidFill>
                <a:latin typeface="Yu Gothic"/>
              </a:rPr>
              <a:t>予約・管理画面実装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70000" y="2124000"/>
            <a:ext cx="396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56000" y="1152000"/>
            <a:ext cx="1620000" cy="270000"/>
          </a:xfrm>
          <a:prstGeom prst="roundRect">
            <a:avLst>
              <a:gd name="adj" fmla="val 25000"/>
            </a:avLst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7月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6000" y="1565999"/>
            <a:ext cx="162000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テスト・発表準備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設計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6000" y="1565999"/>
            <a:ext cx="46800" cy="1224000"/>
          </a:xfrm>
          <a:prstGeom prst="rect">
            <a:avLst/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6000" y="1998000"/>
            <a:ext cx="144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400" b="1">
                <a:solidFill>
                  <a:srgbClr val="2D343C"/>
                </a:solidFill>
                <a:latin typeface="Yu Gothic"/>
              </a:rPr>
              <a:t>テスト・発表準備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20000" y="3311999"/>
          <a:ext cx="8063999" cy="100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6623999"/>
              </a:tblGrid>
              <a:tr h="20159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期間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作業内容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4月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要件整理・DB設計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5月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API設計・認証実装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6月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予約・管理画面実装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0160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7月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D343C"/>
                          </a:solidFill>
                          <a:latin typeface="Yu Gothic"/>
                        </a:rPr>
                        <a:t>テスト・発表準備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基本設計-アーキテクチャ図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Vue SPA + REST API + MyBatis-Plus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0000" y="1872000"/>
            <a:ext cx="1260000" cy="468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Vue 3
画面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72000"/>
            <a:ext cx="1260000" cy="468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REST API
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72000"/>
            <a:ext cx="1260000" cy="4680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Service
業務処理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6000" y="1872000"/>
            <a:ext cx="1260000" cy="468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Mapper
MyBatis-Plus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1872000"/>
            <a:ext cx="1260000" cy="468000"/>
          </a:xfrm>
          <a:prstGeom prst="roundRect">
            <a:avLst>
              <a:gd name="adj" fmla="val 25000"/>
            </a:avLst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MySQL
DB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35999" y="2106000"/>
            <a:ext cx="648001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16000" y="2106000"/>
            <a:ext cx="720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68000" y="2106000"/>
            <a:ext cx="612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12000" y="2106000"/>
            <a:ext cx="180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0000" y="2880000"/>
            <a:ext cx="37800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認証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Spring Security はステートレス設定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Bearer Token Filter で JWT を検証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/api/admin/** は ADMIN 権限が必要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2880000"/>
            <a:ext cx="46800" cy="1080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40000" y="2880000"/>
            <a:ext cx="37800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メール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登録時のメール認証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パスワード再設定メール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予約リマインダー / 成団通知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0000" y="2880000"/>
            <a:ext cx="46800" cy="1080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基本設計-データベース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schema.sql の主要テーブル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954000"/>
          <a:ext cx="8783999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6983999"/>
              </a:tblGrid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テーブル名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役割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users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一般ユーザー情報、メール認証状態、カロリー・アレルゲン設定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admins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管理者ログイン情報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menus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弁当メニュー、価格、画像、提供日、熱量、アレルゲン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reservations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予約情報、数量、支払状態、注文状態、返金理由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email_tokens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メール認証・パスワード再設定トークン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571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system_settings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43C"/>
                          </a:solidFill>
                          <a:latin typeface="Yu Gothic"/>
                        </a:rPr>
                        <a:t>予約締切時間、成団人数などの設定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0000" y="3330000"/>
            <a:ext cx="1512000" cy="2880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0000" y="3330000"/>
            <a:ext cx="1512000" cy="2880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reservations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2000" y="3330000"/>
            <a:ext cx="1512000" cy="2880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menus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32000" y="3330000"/>
            <a:ext cx="1512000" cy="288000"/>
          </a:xfrm>
          <a:prstGeom prst="roundRect">
            <a:avLst>
              <a:gd name="adj" fmla="val 25000"/>
            </a:avLst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system_settings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50000" y="3474000"/>
            <a:ext cx="252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68000" y="3474000"/>
            <a:ext cx="648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基本設計-画面遷移図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frontend/src/router/index.js に基づく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224000"/>
            <a:ext cx="1332000" cy="2952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ログイン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2000" y="1368000"/>
            <a:ext cx="324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60000" y="1224000"/>
            <a:ext cx="1332000" cy="2952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本日のメニュー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10000" y="1368000"/>
            <a:ext cx="324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7999" y="1224000"/>
            <a:ext cx="1332000" cy="2952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メニュー詳細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38000" y="1368000"/>
            <a:ext cx="324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5999" y="1224000"/>
            <a:ext cx="1332000" cy="2952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カート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65999" y="1368000"/>
            <a:ext cx="324001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43999" y="1224000"/>
            <a:ext cx="1332000" cy="295200"/>
          </a:xfrm>
          <a:prstGeom prst="roundRect">
            <a:avLst>
              <a:gd name="adj" fmla="val 25000"/>
            </a:avLst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マイページ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990000"/>
            <a:ext cx="252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182F48"/>
                </a:solidFill>
                <a:latin typeface="Yu Gothic"/>
              </a:rPr>
              <a:t>一般ユーザー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592000"/>
            <a:ext cx="1944000" cy="2952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管理者ログイン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94000" y="2736000"/>
            <a:ext cx="683999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131999" y="2592000"/>
            <a:ext cx="1944000" cy="295200"/>
          </a:xfrm>
          <a:prstGeom prst="roundRect">
            <a:avLst>
              <a:gd name="adj" fmla="val 25000"/>
            </a:avLst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ダッシュボード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93999" y="2736000"/>
            <a:ext cx="684000" cy="0"/>
          </a:xfrm>
          <a:prstGeom prst="line">
            <a:avLst/>
          </a:prstGeom>
          <a:ln w="25400">
            <a:solidFill>
              <a:srgbClr val="64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832000" y="2592000"/>
            <a:ext cx="1944000" cy="2952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メニュー管理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11999"/>
            <a:ext cx="1944000" cy="2952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日次集計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31999" y="3311999"/>
            <a:ext cx="1944000" cy="2952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月次集計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32000" y="3311999"/>
            <a:ext cx="1944000" cy="295200"/>
          </a:xfrm>
          <a:prstGeom prst="roundRect">
            <a:avLst>
              <a:gd name="adj" fmla="val 25000"/>
            </a:avLst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設定・ユーザー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000" y="2358000"/>
            <a:ext cx="252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182F48"/>
                </a:solidFill>
                <a:latin typeface="Yu Gothic"/>
              </a:rPr>
              <a:t>管理者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画面説明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主要画面とできること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936000"/>
            <a:ext cx="4140000" cy="12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本日のメニュー画面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予約可能メニュー、締切時間、成団人数を表示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メニュー詳細・カート画面へ遷移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936000"/>
            <a:ext cx="46800" cy="1260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936000"/>
            <a:ext cx="4140000" cy="12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カート・予約画面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複数メニューをまとめて予約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支払方法・数量を指定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936000"/>
            <a:ext cx="46800" cy="1260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2592000"/>
            <a:ext cx="4140000" cy="12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マイページ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予約履歴、支払申請、注文状態確認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氏名・パスワード・食事設定を変更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92000"/>
            <a:ext cx="46800" cy="1260000"/>
          </a:xfrm>
          <a:prstGeom prst="rect">
            <a:avLst/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0000" y="2592000"/>
            <a:ext cx="4140000" cy="12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管理画面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集計、メニュー管理、画像アップロード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CSV出力、返金、成団確定を操作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0000" y="2592000"/>
            <a:ext cx="46800" cy="1260000"/>
          </a:xfrm>
          <a:prstGeom prst="rect">
            <a:avLst/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セキュリティ対策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SecurityConfig / Service 実装に基づく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917999"/>
            <a:ext cx="4140000" cy="13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認証・認可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JWT Bearer Token によるステートレス認証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/api/admin/** は ADMIN 権限のみ許可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/api/user/** は USER / ADMIN 権限で制御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917999"/>
            <a:ext cx="46800" cy="1368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917999"/>
            <a:ext cx="4140000" cy="13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パスワード保護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BCryptPasswordEncoder でハッシュ化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パスワード再設定はトークン方式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管理者削除操作は管理者パスワード確認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917999"/>
            <a:ext cx="46800" cy="1368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2646000"/>
            <a:ext cx="4140000" cy="13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メール・トークン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メール認証で登録ユーザーを確認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token_hash をDB保存し、有効期限を管理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使用済みトークンを used_at で管理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646000"/>
            <a:ext cx="46800" cy="1368000"/>
          </a:xfrm>
          <a:prstGeom prst="rect">
            <a:avLst/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0000" y="2646000"/>
            <a:ext cx="4140000" cy="13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API・ファイル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CSRF無効化 + JWT 前提のAPI設計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画像アップロードは multipart サイズ制限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CSV出力は Content-Type / nosniff を設定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0000" y="2646000"/>
            <a:ext cx="46800" cy="1368000"/>
          </a:xfrm>
          <a:prstGeom prst="rect">
            <a:avLst/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テスト仕様書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src/test/java にあるテストを整理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917999"/>
          <a:ext cx="8928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000"/>
                <a:gridCol w="3708000"/>
                <a:gridCol w="3708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分類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確認内容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対象テスト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認証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ログイン、メール認証、パスワード再設定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AuthControllerMailFlowTest / PasswordResetServiceTest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セキュリティ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APIの権限、JWT認証、管理者制御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ApiSkeletonSecurityTest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予約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予約作成、カート予約、支払状態、注文状態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ReservationServiceTest / ReservationControllerTest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メニュー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本日メニュー取得、メニュー管理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MenuServiceTest / UserMenuControllerTest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管理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日次・月次集計、ユーザー管理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AdminAggregateServiceTest / AdminControllerTest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メール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送信ON/OFF、通知処理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343C"/>
                          </a:solidFill>
                          <a:latin typeface="Yu Gothic"/>
                        </a:rPr>
                        <a:t>MailServiceTest / EmailVerificationServiceTest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0000" y="3851999"/>
            <a:ext cx="8208000" cy="216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単体テストだけでなく、Controller 層のAPI動作も確認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苦労した点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実装内容から見た技術課題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3999" y="990000"/>
            <a:ext cx="4176000" cy="26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バックエンド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Spring Security と JWT の権限制御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メール認証・パスワード再設定のトークン管理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予約締切・成団条件・状態更新の整理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CSV出力と集計ロジック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990000"/>
            <a:ext cx="46800" cy="2664000"/>
          </a:xfrm>
          <a:prstGeom prst="rect">
            <a:avLst/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990000"/>
            <a:ext cx="4176000" cy="26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フロントエンド・連携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Vue Router の権限別画面遷移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Pinia でのログイン状態管理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管理者画面とユーザー画面のAPI分離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画像アップロードと表示の扱い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990000"/>
            <a:ext cx="46800" cy="2664000"/>
          </a:xfrm>
          <a:prstGeom prst="rect">
            <a:avLst/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改善点・課題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今後の品質向上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3999" y="990000"/>
            <a:ext cx="4176000" cy="26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機能面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予約キャンセル操作の画面上での分かりやすさ向上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支払方法の外部決済連携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メニュー画像・アレルゲン表示の改善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スマートフォン画面の操作性向上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990000"/>
            <a:ext cx="46800" cy="2664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990000"/>
            <a:ext cx="4176000" cy="26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技術面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トランザクション境界の整理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APIレスポンス形式の統一徹底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E2Eテストの追加</a:t>
            </a:r>
          </a:p>
          <a:p>
            <a:pPr>
              <a:spcAft>
                <a:spcPts val="300"/>
              </a:spcAft>
              <a:defRPr sz="1300">
                <a:solidFill>
                  <a:srgbClr val="2D343C"/>
                </a:solidFill>
                <a:latin typeface="Yu Gothic"/>
              </a:defRPr>
            </a:pPr>
            <a:r>
              <a:t>本番用メール・JWT secret 管理の強化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990000"/>
            <a:ext cx="46800" cy="2664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テスト-要件実現確認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要件定義の項目に対する実装状況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4000" y="882000"/>
          <a:ext cx="8964000" cy="26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1440000"/>
                <a:gridCol w="5364000"/>
              </a:tblGrid>
              <a:tr h="296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Yu Gothic"/>
                        </a:rPr>
                        <a:t>要件項目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Yu Gothic"/>
                        </a:rPr>
                        <a:t>実現状況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Yu Gothic"/>
                        </a:rPr>
                        <a:t>確認内容</a:t>
                      </a:r>
                    </a:p>
                  </a:txBody>
                  <a:tcPr marL="28800" marR="28800" marT="18000" marB="18000">
                    <a:solidFill>
                      <a:srgbClr val="182F48"/>
                    </a:solidFill>
                  </a:tcPr>
                </a:tc>
              </a:tr>
              <a:tr h="29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ユーザー登録・ログイン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実現済み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登録、JWTログイン、メール認証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9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弁当メニュー閲覧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実現済み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本日メニュー、週間メニュー、詳細画面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29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予約・カート予約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実現済み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単品予約、複数メニューの一括予約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9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支払・注文状態管理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実現済み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支払申請、管理者承認、注文状態更新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29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予約集計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実現済み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日次・月次集計、CSV出力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9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メニュー管理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実現済み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登録、更新、削除、画像アップロード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  <a:tr h="29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ユーザー管理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実現済み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ユーザー一覧、予約履歴、削除</a:t>
                      </a:r>
                    </a:p>
                  </a:txBody>
                  <a:tcPr marL="28800" marR="28800" marT="18000" marB="18000">
                    <a:solidFill>
                      <a:srgbClr val="F0F6FA"/>
                    </a:solidFill>
                  </a:tcPr>
                </a:tc>
              </a:tr>
              <a:tr h="296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通知機能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一部実現済み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D343C"/>
                          </a:solidFill>
                          <a:latin typeface="Yu Gothic"/>
                        </a:rPr>
                        <a:t>メール認証、再設定、リマインダー、成団通知</a:t>
                      </a:r>
                    </a:p>
                  </a:txBody>
                  <a:tcPr marL="28800" marR="288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0000" y="3851999"/>
            <a:ext cx="8208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500" b="1">
                <a:solidFill>
                  <a:srgbClr val="182F48"/>
                </a:solidFill>
                <a:latin typeface="Yu Gothic"/>
              </a:rPr>
              <a:t>主要要件は実装済み。外部決済やE2Eテストは今後の課題として整理。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98000"/>
            <a:ext cx="396000" cy="23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800" b="1">
                <a:solidFill>
                  <a:srgbClr val="3773B9"/>
                </a:solidFill>
                <a:latin typeface="Yu Gothic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8100000" cy="288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2700" b="1">
                <a:solidFill>
                  <a:srgbClr val="182F48"/>
                </a:solidFill>
                <a:latin typeface="Yu Gothic"/>
              </a:rPr>
              <a:t>独自開発機能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486000"/>
            <a:ext cx="7380000" cy="14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l"/>
            <a:r>
              <a:rPr sz="1100" b="0">
                <a:solidFill>
                  <a:srgbClr val="646F7B"/>
                </a:solidFill>
                <a:latin typeface="Yu Gothic"/>
              </a:rPr>
              <a:t>要件に追加して実装した工夫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702000"/>
            <a:ext cx="8928000" cy="10800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917999"/>
            <a:ext cx="4140000" cy="13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成団管理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最小予約人数を system_settings で管理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予約数に応じて成団確定メッセージを返却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管理者が全件確定・全件キャンセルを実行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917999"/>
            <a:ext cx="46800" cy="1332000"/>
          </a:xfrm>
          <a:prstGeom prst="rect">
            <a:avLst/>
          </a:prstGeom>
          <a:solidFill>
            <a:srgbClr val="2D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917999"/>
            <a:ext cx="4140000" cy="13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食事設定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ユーザーごとの目標カロリーを保存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アレルゲン設定をプロフィールで管理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メニュー側にも熱量・アレルゲン項目を保持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917999"/>
            <a:ext cx="46800" cy="1332000"/>
          </a:xfrm>
          <a:prstGeom prst="rect">
            <a:avLst/>
          </a:prstGeom>
          <a:solidFill>
            <a:srgbClr val="37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2628000"/>
            <a:ext cx="4140000" cy="13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メール連携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メール認証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パスワード再設定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予約リマインダー・成団通知の拡張余地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628000"/>
            <a:ext cx="46800" cy="1332000"/>
          </a:xfrm>
          <a:prstGeom prst="rect">
            <a:avLst/>
          </a:prstGeom>
          <a:solidFill>
            <a:srgbClr val="E8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40000" y="2628000"/>
            <a:ext cx="4140000" cy="13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rIns="90000" tIns="108000"/>
          <a:lstStyle/>
          <a:p>
            <a:pPr algn="ctr"/>
            <a:r>
              <a:rPr sz="1600" b="1">
                <a:solidFill>
                  <a:srgbClr val="182F48"/>
                </a:solidFill>
                <a:latin typeface="Yu Gothic"/>
              </a:rPr>
              <a:t>管理者向け運用機能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日次・月次CSVエクスポート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返金理由付きの返金処理</a:t>
            </a:r>
          </a:p>
          <a:p>
            <a:pPr>
              <a:spcAft>
                <a:spcPts val="300"/>
              </a:spcAft>
              <a:defRPr sz="1200">
                <a:solidFill>
                  <a:srgbClr val="2D343C"/>
                </a:solidFill>
                <a:latin typeface="Yu Gothic"/>
              </a:defRPr>
            </a:pPr>
            <a:r>
              <a:t>画像アップロードによるメニュー管理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0000" y="2628000"/>
            <a:ext cx="46800" cy="1332000"/>
          </a:xfrm>
          <a:prstGeom prst="rect">
            <a:avLst/>
          </a:prstGeom>
          <a:solidFill>
            <a:srgbClr val="C4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0"/>
            <a:ext cx="8136000" cy="324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3600" b="1">
                <a:solidFill>
                  <a:srgbClr val="182F48"/>
                </a:solidFill>
                <a:latin typeface="Yu Gothic"/>
              </a:rPr>
              <a:t>ご清聴ありがとうございました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232000"/>
            <a:ext cx="8136000" cy="251999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2800" b="1">
                <a:solidFill>
                  <a:srgbClr val="3773B9"/>
                </a:solidFill>
                <a:latin typeface="Yu Gothic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880000"/>
            <a:ext cx="8136000" cy="180000"/>
          </a:xfrm>
          <a:prstGeom prst="rect">
            <a:avLst/>
          </a:prstGeom>
          <a:noFill/>
        </p:spPr>
        <p:txBody>
          <a:bodyPr wrap="square" lIns="18000" rIns="18000" tIns="18000" bIns="18000">
            <a:spAutoFit/>
          </a:bodyPr>
          <a:lstStyle/>
          <a:p>
            <a:pPr algn="ctr"/>
            <a:r>
              <a:rPr sz="1400" b="0">
                <a:solidFill>
                  <a:srgbClr val="646F7B"/>
                </a:solidFill>
                <a:latin typeface="Yu Gothic"/>
              </a:rPr>
              <a:t>弁当予約管理システム / 2026年度新人研修 成果報告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